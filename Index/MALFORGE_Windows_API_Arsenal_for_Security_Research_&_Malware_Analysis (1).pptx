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0064" y="1259086"/>
            <a:ext cx="8203871" cy="8161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4353" b="1" spc="8" kern="0" dirty="0">
                <a:solidFill>
                  <a:srgbClr val="00FF41"/>
                </a:solidFill>
              </a:rPr>
              <a:t>MALFORGE</a:t>
            </a:r>
            <a:endParaRPr lang="en-US" sz="4353" dirty="0"/>
          </a:p>
        </p:txBody>
      </p:sp>
      <p:sp>
        <p:nvSpPr>
          <p:cNvPr id="4" name="Text 1"/>
          <p:cNvSpPr/>
          <p:nvPr/>
        </p:nvSpPr>
        <p:spPr>
          <a:xfrm>
            <a:off x="470064" y="2146697"/>
            <a:ext cx="820387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FFFFFF"/>
                </a:solidFill>
              </a:rPr>
              <a:t>Windows API Arsenal for Security Research &amp; Malware Analysis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70064" y="2602111"/>
            <a:ext cx="820387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i="1" dirty="0">
                <a:solidFill>
                  <a:srgbClr val="8B5CF6"/>
                </a:solidFill>
              </a:rPr>
              <a:t>"Transparency • Education • Responsibility"</a:t>
            </a:r>
            <a:endParaRPr lang="en-US" sz="1269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236" y="3575447"/>
            <a:ext cx="96441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37677" y="3557588"/>
            <a:ext cx="4005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GitHub</a:t>
            </a:r>
            <a:endParaRPr lang="en-US" sz="727" dirty="0"/>
          </a:p>
        </p:txBody>
      </p:sp>
      <p:sp>
        <p:nvSpPr>
          <p:cNvPr id="8" name="Text 4"/>
          <p:cNvSpPr/>
          <p:nvPr/>
        </p:nvSpPr>
        <p:spPr>
          <a:xfrm>
            <a:off x="470064" y="3729038"/>
            <a:ext cx="26393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github.com/CyberForgeEx-Labs/MALFORGE</a:t>
            </a:r>
            <a:endParaRPr lang="en-US" sz="834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751" y="3575447"/>
            <a:ext cx="87511" cy="1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73262" y="3557588"/>
            <a:ext cx="8849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Documentation</a:t>
            </a:r>
            <a:endParaRPr lang="en-US" sz="727" dirty="0"/>
          </a:p>
        </p:txBody>
      </p:sp>
      <p:sp>
        <p:nvSpPr>
          <p:cNvPr id="11" name="Text 6"/>
          <p:cNvSpPr/>
          <p:nvPr/>
        </p:nvSpPr>
        <p:spPr>
          <a:xfrm>
            <a:off x="3252304" y="3729038"/>
            <a:ext cx="26393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deepwiki.com/CyberForgeEx-Labs/MALFORGE</a:t>
            </a:r>
            <a:endParaRPr lang="en-US" sz="834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193" y="3575447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219206" y="3557588"/>
            <a:ext cx="3700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Status</a:t>
            </a:r>
            <a:endParaRPr lang="en-US" sz="727" dirty="0"/>
          </a:p>
        </p:txBody>
      </p:sp>
      <p:sp>
        <p:nvSpPr>
          <p:cNvPr id="14" name="Text 8"/>
          <p:cNvSpPr/>
          <p:nvPr/>
        </p:nvSpPr>
        <p:spPr>
          <a:xfrm>
            <a:off x="6034543" y="3729038"/>
            <a:ext cx="26393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Active Development | MIT License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292894"/>
            <a:ext cx="8701088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FF41"/>
                </a:solidFill>
              </a:rPr>
              <a:t>The Security Research Landscape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35769" y="891183"/>
            <a:ext cx="2714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B5CF6"/>
                </a:solidFill>
              </a:rPr>
              <a:t>The Challenge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435769" y="1228725"/>
            <a:ext cx="6535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&gt;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614363" y="1230511"/>
            <a:ext cx="2166677" cy="31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Security professionals must master both offensive and defensive tactics.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35769" y="1655899"/>
            <a:ext cx="6535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&gt;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614363" y="1657685"/>
            <a:ext cx="2444195" cy="31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Malware analysis requires deep knowledge of real-world API abuse.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35769" y="2083073"/>
            <a:ext cx="6535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&gt;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614363" y="2084859"/>
            <a:ext cx="2341113" cy="31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Learning is often hindered by scattered and inconsistent resources.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3500438" y="891183"/>
            <a:ext cx="2143125" cy="3214688"/>
          </a:xfrm>
          <a:prstGeom prst="rect">
            <a:avLst/>
          </a:prstGeom>
          <a:solidFill>
            <a:srgbClr val="000000"/>
          </a:solidFill>
          <a:ln w="9144">
            <a:solidFill>
              <a:srgbClr val="00FF4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5" y="962620"/>
            <a:ext cx="2000250" cy="30718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93606" y="891183"/>
            <a:ext cx="2714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B5CF6"/>
                </a:solidFill>
              </a:rPr>
              <a:t>The Problem</a:t>
            </a:r>
            <a:endParaRPr lang="en-US" sz="987" dirty="0"/>
          </a:p>
        </p:txBody>
      </p:sp>
      <p:sp>
        <p:nvSpPr>
          <p:cNvPr id="14" name="Text 10"/>
          <p:cNvSpPr/>
          <p:nvPr/>
        </p:nvSpPr>
        <p:spPr>
          <a:xfrm>
            <a:off x="5993606" y="1228725"/>
            <a:ext cx="6535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&gt;</a:t>
            </a:r>
            <a:endParaRPr lang="en-US" sz="834" dirty="0"/>
          </a:p>
        </p:txBody>
      </p:sp>
      <p:sp>
        <p:nvSpPr>
          <p:cNvPr id="15" name="Text 11"/>
          <p:cNvSpPr/>
          <p:nvPr/>
        </p:nvSpPr>
        <p:spPr>
          <a:xfrm>
            <a:off x="6172200" y="1230511"/>
            <a:ext cx="1941175" cy="31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Lack of production-quality reference implementations for research.</a:t>
            </a:r>
            <a:endParaRPr lang="en-US" sz="834" dirty="0"/>
          </a:p>
        </p:txBody>
      </p:sp>
      <p:sp>
        <p:nvSpPr>
          <p:cNvPr id="16" name="Text 12"/>
          <p:cNvSpPr/>
          <p:nvPr/>
        </p:nvSpPr>
        <p:spPr>
          <a:xfrm>
            <a:off x="5993606" y="1655899"/>
            <a:ext cx="6535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&gt;</a:t>
            </a:r>
            <a:endParaRPr lang="en-US" sz="834" dirty="0"/>
          </a:p>
        </p:txBody>
      </p:sp>
      <p:sp>
        <p:nvSpPr>
          <p:cNvPr id="17" name="Text 13"/>
          <p:cNvSpPr/>
          <p:nvPr/>
        </p:nvSpPr>
        <p:spPr>
          <a:xfrm>
            <a:off x="6172200" y="1657685"/>
            <a:ext cx="2512898" cy="31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Significant gap between theoretical knowledge and practical execution.</a:t>
            </a:r>
            <a:endParaRPr lang="en-US" sz="834" dirty="0"/>
          </a:p>
        </p:txBody>
      </p:sp>
      <p:sp>
        <p:nvSpPr>
          <p:cNvPr id="18" name="Text 14"/>
          <p:cNvSpPr/>
          <p:nvPr/>
        </p:nvSpPr>
        <p:spPr>
          <a:xfrm>
            <a:off x="5993606" y="2083073"/>
            <a:ext cx="6535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&gt;</a:t>
            </a:r>
            <a:endParaRPr lang="en-US" sz="834" dirty="0"/>
          </a:p>
        </p:txBody>
      </p:sp>
      <p:sp>
        <p:nvSpPr>
          <p:cNvPr id="19" name="Text 15"/>
          <p:cNvSpPr/>
          <p:nvPr/>
        </p:nvSpPr>
        <p:spPr>
          <a:xfrm>
            <a:off x="6172200" y="2084859"/>
            <a:ext cx="1977061" cy="31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Absence of standardized educational frameworks for malware techniques.</a:t>
            </a:r>
            <a:endParaRPr lang="en-US" sz="834" dirty="0"/>
          </a:p>
        </p:txBody>
      </p:sp>
      <p:sp>
        <p:nvSpPr>
          <p:cNvPr id="20" name="Text 16"/>
          <p:cNvSpPr/>
          <p:nvPr/>
        </p:nvSpPr>
        <p:spPr>
          <a:xfrm>
            <a:off x="435769" y="4684514"/>
            <a:ext cx="8272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</a:rPr>
              <a:t>&gt; MARKET NEED: A comprehensive, open-source security research arsenal aligned with industry standards.</a:t>
            </a:r>
            <a:endParaRPr lang="en-US" sz="8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292894"/>
            <a:ext cx="8701088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FF41"/>
                </a:solidFill>
              </a:rPr>
              <a:t>Project Overview &amp; Philosophy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35769" y="819745"/>
            <a:ext cx="7143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MALFORGE is a comprehensive Windows API implementation repository organized by industry-standard malware analysis taxonomy, serving as a production-quality C code resource for security research.</a:t>
            </a:r>
            <a:endParaRPr lang="en-US" sz="94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059" y="1738387"/>
            <a:ext cx="250031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5788" y="2167012"/>
            <a:ext cx="23145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41"/>
                </a:solidFill>
              </a:rPr>
              <a:t>Transparency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585788" y="2468835"/>
            <a:ext cx="2314575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Open-source implementations that demystify complex security techniques and Windows API abuse patterns.</a:t>
            </a:r>
            <a:endParaRPr lang="en-US" sz="727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266" y="1738387"/>
            <a:ext cx="321469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14713" y="2167012"/>
            <a:ext cx="23145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41"/>
                </a:solidFill>
              </a:rPr>
              <a:t>Education</a:t>
            </a:r>
            <a:endParaRPr lang="en-US" sz="987" dirty="0"/>
          </a:p>
        </p:txBody>
      </p:sp>
      <p:sp>
        <p:nvSpPr>
          <p:cNvPr id="10" name="Text 5"/>
          <p:cNvSpPr/>
          <p:nvPr/>
        </p:nvSpPr>
        <p:spPr>
          <a:xfrm>
            <a:off x="3414713" y="2468835"/>
            <a:ext cx="2314575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Comprehensive documentation and production-ready code facilitating deep learning for researchers and students.</a:t>
            </a:r>
            <a:endParaRPr lang="en-US" sz="727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331" y="1738387"/>
            <a:ext cx="357188" cy="285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43638" y="2167012"/>
            <a:ext cx="23145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41"/>
                </a:solidFill>
              </a:rPr>
              <a:t>Responsibility</a:t>
            </a:r>
            <a:endParaRPr lang="en-US" sz="987" dirty="0"/>
          </a:p>
        </p:txBody>
      </p:sp>
      <p:sp>
        <p:nvSpPr>
          <p:cNvPr id="13" name="Text 7"/>
          <p:cNvSpPr/>
          <p:nvPr/>
        </p:nvSpPr>
        <p:spPr>
          <a:xfrm>
            <a:off x="6243638" y="2468835"/>
            <a:ext cx="2314575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Clear ethical guidelines and responsible disclosure practices to ensure the arsenal is used for defensive growth.</a:t>
            </a:r>
            <a:endParaRPr lang="en-US" sz="727" dirty="0"/>
          </a:p>
        </p:txBody>
      </p:sp>
      <p:sp>
        <p:nvSpPr>
          <p:cNvPr id="14" name="Shape 8"/>
          <p:cNvSpPr/>
          <p:nvPr/>
        </p:nvSpPr>
        <p:spPr>
          <a:xfrm>
            <a:off x="7144" y="3945806"/>
            <a:ext cx="9129713" cy="3250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7144" y="3945806"/>
            <a:ext cx="9129713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0"/>
          <p:cNvSpPr/>
          <p:nvPr/>
        </p:nvSpPr>
        <p:spPr>
          <a:xfrm>
            <a:off x="1362782" y="4088681"/>
            <a:ext cx="21390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5555"/>
                </a:solidFill>
              </a:rPr>
              <a:t>🔴 RED TEAM: Offensive Research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5355887" y="4088681"/>
            <a:ext cx="24253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FFFF"/>
                </a:solidFill>
              </a:rPr>
              <a:t>🔵 BLUE TEAM: Defensive Engineering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292894"/>
            <a:ext cx="8701088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FF41"/>
                </a:solidFill>
              </a:rPr>
              <a:t>Industry-Standard Framework Alignment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35769" y="819745"/>
            <a:ext cx="44148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B5CF6"/>
                </a:solidFill>
              </a:rPr>
              <a:t>Taxonomic Structure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435769" y="1121569"/>
            <a:ext cx="61252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::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578644" y="1123355"/>
            <a:ext cx="1331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Directly aligned with the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1910144" y="1123355"/>
            <a:ext cx="8252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CCCCCC"/>
                </a:solidFill>
              </a:rPr>
              <a:t>MITRE ATT&amp;CK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2735414" y="1123355"/>
            <a:ext cx="6450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framework.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35769" y="1353015"/>
            <a:ext cx="61252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::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78644" y="1354801"/>
            <a:ext cx="10019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Categorized using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1580610" y="1354801"/>
            <a:ext cx="5845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CCCCCC"/>
                </a:solidFill>
              </a:rPr>
              <a:t>MALAPI.io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2165142" y="1354801"/>
            <a:ext cx="11548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usage classifications.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35769" y="1584461"/>
            <a:ext cx="61252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::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578644" y="1586247"/>
            <a:ext cx="29361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Organized for rapid reference and systematic learning.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435769" y="1958783"/>
            <a:ext cx="44148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B5CF6"/>
                </a:solidFill>
              </a:rPr>
              <a:t>Why Taxonomy Matters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435769" y="2260606"/>
            <a:ext cx="61252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::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578644" y="2262392"/>
            <a:ext cx="30697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Standardizes terminology across the security community.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435769" y="2492053"/>
            <a:ext cx="61252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::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578644" y="2493838"/>
            <a:ext cx="27341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Maps raw API calls to real-world adversarial tactics.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35769" y="2723499"/>
            <a:ext cx="61252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::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578644" y="2725285"/>
            <a:ext cx="28847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Enables systematic threat detection and rule creation.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435769" y="3097820"/>
            <a:ext cx="44148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B5CF6"/>
                </a:solidFill>
              </a:rPr>
              <a:t>Framework Integration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435769" y="3399644"/>
            <a:ext cx="61252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::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578644" y="3401430"/>
            <a:ext cx="3904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CCCCCC"/>
                </a:solidFill>
              </a:rPr>
              <a:t>MITRE: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969094" y="3401430"/>
            <a:ext cx="22111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Adversarial tactics (e.g., T1055 Injection).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435769" y="3631090"/>
            <a:ext cx="61252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::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578644" y="3632876"/>
            <a:ext cx="478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CCCCCC"/>
                </a:solidFill>
              </a:rPr>
              <a:t>MALAPI: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1057582" y="3632876"/>
            <a:ext cx="20904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Windows API malware usage patterns.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435769" y="3862536"/>
            <a:ext cx="61252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::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578644" y="3864322"/>
            <a:ext cx="3808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CCCCCC"/>
                </a:solidFill>
              </a:rPr>
              <a:t>MSDN: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959495" y="3864322"/>
            <a:ext cx="24215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Official Microsoft documentation references.</a:t>
            </a:r>
            <a:endParaRPr lang="en-US" sz="834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356" y="819745"/>
            <a:ext cx="3571875" cy="2143125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95863" y="3105745"/>
            <a:ext cx="919088" cy="185738"/>
          </a:xfrm>
          <a:prstGeom prst="rect">
            <a:avLst/>
          </a:prstGeom>
          <a:noFill/>
          <a:ln/>
        </p:spPr>
        <p:txBody>
          <a:bodyPr wrap="square" lIns="127508" tIns="42545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MITRE ATT&amp;CK</a:t>
            </a:r>
            <a:endParaRPr lang="en-US" sz="727" dirty="0"/>
          </a:p>
        </p:txBody>
      </p:sp>
      <p:sp>
        <p:nvSpPr>
          <p:cNvPr id="34" name="Text 30"/>
          <p:cNvSpPr/>
          <p:nvPr/>
        </p:nvSpPr>
        <p:spPr>
          <a:xfrm>
            <a:off x="6322107" y="3105745"/>
            <a:ext cx="732765" cy="185738"/>
          </a:xfrm>
          <a:prstGeom prst="rect">
            <a:avLst/>
          </a:prstGeom>
          <a:noFill/>
          <a:ln/>
        </p:spPr>
        <p:txBody>
          <a:bodyPr wrap="square" lIns="127508" tIns="42545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MALAPI.io</a:t>
            </a:r>
            <a:endParaRPr lang="en-US" sz="727" dirty="0"/>
          </a:p>
        </p:txBody>
      </p:sp>
      <p:sp>
        <p:nvSpPr>
          <p:cNvPr id="35" name="Text 31"/>
          <p:cNvSpPr/>
          <p:nvPr/>
        </p:nvSpPr>
        <p:spPr>
          <a:xfrm>
            <a:off x="7162028" y="3105745"/>
            <a:ext cx="523252" cy="185738"/>
          </a:xfrm>
          <a:prstGeom prst="rect">
            <a:avLst/>
          </a:prstGeom>
          <a:noFill/>
          <a:ln/>
        </p:spPr>
        <p:txBody>
          <a:bodyPr wrap="square" lIns="127508" tIns="42545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MSDN</a:t>
            </a:r>
            <a:endParaRPr lang="en-US" sz="727" dirty="0"/>
          </a:p>
        </p:txBody>
      </p:sp>
      <p:sp>
        <p:nvSpPr>
          <p:cNvPr id="36" name="Text 32"/>
          <p:cNvSpPr/>
          <p:nvPr/>
        </p:nvSpPr>
        <p:spPr>
          <a:xfrm>
            <a:off x="7792436" y="3105745"/>
            <a:ext cx="756289" cy="185738"/>
          </a:xfrm>
          <a:prstGeom prst="rect">
            <a:avLst/>
          </a:prstGeom>
          <a:noFill/>
          <a:ln/>
        </p:spPr>
        <p:txBody>
          <a:bodyPr wrap="square" lIns="127508" tIns="42545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MALFORGE</a:t>
            </a:r>
            <a:endParaRPr lang="en-US" sz="727" dirty="0"/>
          </a:p>
        </p:txBody>
      </p:sp>
      <p:sp>
        <p:nvSpPr>
          <p:cNvPr id="37" name="Shape 33"/>
          <p:cNvSpPr/>
          <p:nvPr/>
        </p:nvSpPr>
        <p:spPr>
          <a:xfrm>
            <a:off x="7144" y="4545211"/>
            <a:ext cx="9129713" cy="5911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8" name="Shape 34"/>
          <p:cNvSpPr/>
          <p:nvPr/>
        </p:nvSpPr>
        <p:spPr>
          <a:xfrm>
            <a:off x="7144" y="4545211"/>
            <a:ext cx="9129713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9" name="Text 35"/>
          <p:cNvSpPr/>
          <p:nvPr/>
        </p:nvSpPr>
        <p:spPr>
          <a:xfrm>
            <a:off x="7144" y="4545211"/>
            <a:ext cx="9129713" cy="591145"/>
          </a:xfrm>
          <a:prstGeom prst="rect">
            <a:avLst/>
          </a:prstGeom>
          <a:noFill/>
          <a:ln/>
        </p:spPr>
        <p:txBody>
          <a:bodyPr wrap="square" lIns="510286" tIns="170053" rIns="510286" bIns="340233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B5CF6"/>
                </a:solidFill>
              </a:rPr>
              <a:t>[SYSTEM_LOG]: Progressive complexity mapping and technique classification initialized...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292894"/>
            <a:ext cx="8701088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FF41"/>
                </a:solidFill>
              </a:rPr>
              <a:t>Repository Architecture &amp; Categories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35769" y="819745"/>
            <a:ext cx="8272463" cy="839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5CF6"/>
                </a:solidFill>
              </a:rPr>
              <a:t>MALFORGE (Core)</a:t>
            </a:r>
            <a:endParaRPr lang="en-US" sz="727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5CF6"/>
                </a:solidFill>
              </a:rPr>
              <a:t>├── 🔴 Anti-Debugging (Detection Evasion)</a:t>
            </a:r>
            <a:endParaRPr lang="en-US" sz="727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5CF6"/>
                </a:solidFill>
              </a:rPr>
              <a:t>├── 🔵 Enumeration (System Reconnaissance)</a:t>
            </a:r>
            <a:endParaRPr lang="en-US" sz="727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5CF6"/>
                </a:solidFill>
              </a:rPr>
              <a:t>├── 🟡 Evasion (Defense Bypass)</a:t>
            </a:r>
            <a:endParaRPr lang="en-US" sz="727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5CF6"/>
                </a:solidFill>
              </a:rPr>
              <a:t>├── 🟣 Injection (Code Execution)</a:t>
            </a:r>
            <a:endParaRPr lang="en-US" sz="727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5CF6"/>
                </a:solidFill>
              </a:rPr>
              <a:t>├── 🟢 Ransomware (Cryptographic Operations)</a:t>
            </a:r>
            <a:endParaRPr lang="en-US" sz="727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5CF6"/>
                </a:solidFill>
              </a:rPr>
              <a:t>└── 🔵 Spying (Surveillance)</a:t>
            </a:r>
            <a:endParaRPr lang="en-US" sz="727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9" y="2123145"/>
            <a:ext cx="100013" cy="1000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1519" y="2095463"/>
            <a:ext cx="10167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Anti-Debugging</a:t>
            </a:r>
            <a:endParaRPr lang="en-US" sz="784" dirty="0"/>
          </a:p>
        </p:txBody>
      </p:sp>
      <p:sp>
        <p:nvSpPr>
          <p:cNvPr id="7" name="Text 3"/>
          <p:cNvSpPr/>
          <p:nvPr/>
        </p:nvSpPr>
        <p:spPr>
          <a:xfrm>
            <a:off x="550069" y="2322277"/>
            <a:ext cx="243361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Detects analysis environments to evade reverse engineering (Debugger/VM detection).</a:t>
            </a:r>
            <a:endParaRPr lang="en-US" sz="674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163" y="2123145"/>
            <a:ext cx="100013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526613" y="2095463"/>
            <a:ext cx="8559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Enumeration</a:t>
            </a:r>
            <a:endParaRPr lang="en-US" sz="784" dirty="0"/>
          </a:p>
        </p:txBody>
      </p:sp>
      <p:sp>
        <p:nvSpPr>
          <p:cNvPr id="10" name="Text 5"/>
          <p:cNvSpPr/>
          <p:nvPr/>
        </p:nvSpPr>
        <p:spPr>
          <a:xfrm>
            <a:off x="3355163" y="2322277"/>
            <a:ext cx="2433647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System reconnaissance to gather intelligence on processes, modules, and drivers.</a:t>
            </a:r>
            <a:endParaRPr lang="en-US" sz="674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284" y="2123145"/>
            <a:ext cx="112514" cy="1000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44236" y="2095463"/>
            <a:ext cx="5039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Evasion</a:t>
            </a:r>
            <a:endParaRPr lang="en-US" sz="784" dirty="0"/>
          </a:p>
        </p:txBody>
      </p:sp>
      <p:sp>
        <p:nvSpPr>
          <p:cNvPr id="13" name="Text 7"/>
          <p:cNvSpPr/>
          <p:nvPr/>
        </p:nvSpPr>
        <p:spPr>
          <a:xfrm>
            <a:off x="6160284" y="2322277"/>
            <a:ext cx="243361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Techniques to bypass security defenses via dynamic loading and resource manipulation.</a:t>
            </a:r>
            <a:endParaRPr lang="en-US" sz="674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69" y="3266145"/>
            <a:ext cx="100013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21519" y="3238463"/>
            <a:ext cx="6066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Injection</a:t>
            </a:r>
            <a:endParaRPr lang="en-US" sz="784" dirty="0"/>
          </a:p>
        </p:txBody>
      </p:sp>
      <p:sp>
        <p:nvSpPr>
          <p:cNvPr id="16" name="Text 9"/>
          <p:cNvSpPr/>
          <p:nvPr/>
        </p:nvSpPr>
        <p:spPr>
          <a:xfrm>
            <a:off x="550069" y="3465277"/>
            <a:ext cx="243361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Executing code in target processes with elevated privileges (APC/Thread injection).</a:t>
            </a:r>
            <a:endParaRPr lang="en-US" sz="674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163" y="3266145"/>
            <a:ext cx="87511" cy="10001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514111" y="3238463"/>
            <a:ext cx="8332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Ransomware</a:t>
            </a:r>
            <a:endParaRPr lang="en-US" sz="784" dirty="0"/>
          </a:p>
        </p:txBody>
      </p:sp>
      <p:sp>
        <p:nvSpPr>
          <p:cNvPr id="19" name="Text 11"/>
          <p:cNvSpPr/>
          <p:nvPr/>
        </p:nvSpPr>
        <p:spPr>
          <a:xfrm>
            <a:off x="3355163" y="3465277"/>
            <a:ext cx="2433647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Demonstrating cryptographic mechanisms used for data encryption and protection.</a:t>
            </a:r>
            <a:endParaRPr lang="en-US" sz="674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0284" y="3266145"/>
            <a:ext cx="112514" cy="10001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344236" y="3238463"/>
            <a:ext cx="4262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Spying</a:t>
            </a:r>
            <a:endParaRPr lang="en-US" sz="784" dirty="0"/>
          </a:p>
        </p:txBody>
      </p:sp>
      <p:sp>
        <p:nvSpPr>
          <p:cNvPr id="22" name="Text 13"/>
          <p:cNvSpPr/>
          <p:nvPr/>
        </p:nvSpPr>
        <p:spPr>
          <a:xfrm>
            <a:off x="6160284" y="3465277"/>
            <a:ext cx="243361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Monitoring user activity through screen capture, input hooks, and clipboard tracking.</a:t>
            </a:r>
            <a:endParaRPr lang="en-US" sz="674" dirty="0"/>
          </a:p>
        </p:txBody>
      </p:sp>
      <p:sp>
        <p:nvSpPr>
          <p:cNvPr id="23" name="Shape 14"/>
          <p:cNvSpPr/>
          <p:nvPr/>
        </p:nvSpPr>
        <p:spPr>
          <a:xfrm>
            <a:off x="7144" y="4545211"/>
            <a:ext cx="9129713" cy="5911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15"/>
          <p:cNvSpPr/>
          <p:nvPr/>
        </p:nvSpPr>
        <p:spPr>
          <a:xfrm>
            <a:off x="7144" y="4545211"/>
            <a:ext cx="9129713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16"/>
          <p:cNvSpPr/>
          <p:nvPr/>
        </p:nvSpPr>
        <p:spPr>
          <a:xfrm>
            <a:off x="435769" y="4695230"/>
            <a:ext cx="13073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IMPLEMENTATIONS: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40+</a:t>
            </a:r>
            <a:endParaRPr lang="en-US" sz="834" dirty="0"/>
          </a:p>
        </p:txBody>
      </p:sp>
      <p:sp>
        <p:nvSpPr>
          <p:cNvPr id="26" name="Text 17"/>
          <p:cNvSpPr/>
          <p:nvPr/>
        </p:nvSpPr>
        <p:spPr>
          <a:xfrm>
            <a:off x="3936709" y="4695230"/>
            <a:ext cx="8535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COMMITS: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198+</a:t>
            </a:r>
            <a:endParaRPr lang="en-US" sz="834" dirty="0"/>
          </a:p>
        </p:txBody>
      </p:sp>
      <p:sp>
        <p:nvSpPr>
          <p:cNvPr id="27" name="Text 18"/>
          <p:cNvSpPr/>
          <p:nvPr/>
        </p:nvSpPr>
        <p:spPr>
          <a:xfrm>
            <a:off x="6983769" y="4695230"/>
            <a:ext cx="17244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STATUS: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ACTIVE DEVELOPMENT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292894"/>
            <a:ext cx="8701088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FF41"/>
                </a:solidFill>
              </a:rPr>
              <a:t>Deep Dive: Anti-Debugging &amp; Enumeration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657225" y="1041202"/>
            <a:ext cx="3550444" cy="27324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B5CF6"/>
                </a:solidFill>
              </a:rPr>
              <a:t>Anti-Debugging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657225" y="1457325"/>
            <a:ext cx="1023789" cy="15180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657225" y="1457325"/>
            <a:ext cx="1023789" cy="151805"/>
          </a:xfrm>
          <a:prstGeom prst="rect">
            <a:avLst/>
          </a:prstGeom>
          <a:noFill/>
          <a:ln/>
        </p:spPr>
        <p:txBody>
          <a:bodyPr wrap="none" lIns="85090" tIns="42545" rIns="8509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</a:rPr>
              <a:t>MITRE ATT&amp;CK: T1622</a:t>
            </a:r>
            <a:endParaRPr lang="en-US" sz="621" dirty="0"/>
          </a:p>
        </p:txBody>
      </p:sp>
      <p:sp>
        <p:nvSpPr>
          <p:cNvPr id="7" name="Text 4"/>
          <p:cNvSpPr/>
          <p:nvPr/>
        </p:nvSpPr>
        <p:spPr>
          <a:xfrm>
            <a:off x="657225" y="1752005"/>
            <a:ext cx="35504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Detection Evasion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657225" y="1959173"/>
            <a:ext cx="572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&gt;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800100" y="1959173"/>
            <a:ext cx="28543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Detects analysis environments to evade reverse engineering.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657225" y="2166342"/>
            <a:ext cx="572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&gt;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800100" y="2166342"/>
            <a:ext cx="23452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Behavioral &amp; Timing checks to identify sandboxes.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657225" y="2373511"/>
            <a:ext cx="35504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Key API Implementations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657225" y="2580680"/>
            <a:ext cx="3550444" cy="721519"/>
          </a:xfrm>
          <a:prstGeom prst="rect">
            <a:avLst/>
          </a:prstGeom>
          <a:solidFill>
            <a:srgbClr val="0A0A0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7225" y="2580680"/>
            <a:ext cx="3550444" cy="7215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IsDebuggerPresent()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 CheckRemoteDebuggerPresent()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 GetTickCount()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 OutputDebugStringA()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936331" y="1041202"/>
            <a:ext cx="3550444" cy="27324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B5CF6"/>
                </a:solidFill>
              </a:rPr>
              <a:t>Enumeration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4936331" y="1457325"/>
            <a:ext cx="1312859" cy="15180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4936331" y="1457325"/>
            <a:ext cx="1312859" cy="151805"/>
          </a:xfrm>
          <a:prstGeom prst="rect">
            <a:avLst/>
          </a:prstGeom>
          <a:noFill/>
          <a:ln/>
        </p:spPr>
        <p:txBody>
          <a:bodyPr wrap="none" lIns="85090" tIns="42545" rIns="8509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</a:rPr>
              <a:t>MITRE ATT&amp;CK: T1057, T1082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4936331" y="1752005"/>
            <a:ext cx="35504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System Reconnaissance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4936331" y="1959173"/>
            <a:ext cx="572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&gt;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5079206" y="1959173"/>
            <a:ext cx="19496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Gathers system intelligence for targeting.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4936331" y="2166342"/>
            <a:ext cx="572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&gt;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5079206" y="2166342"/>
            <a:ext cx="222028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Maps running processes, modules, and drivers.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4936331" y="2373511"/>
            <a:ext cx="35504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Key API Implementations</a:t>
            </a:r>
            <a:endParaRPr lang="en-US" sz="727" dirty="0"/>
          </a:p>
        </p:txBody>
      </p:sp>
      <p:sp>
        <p:nvSpPr>
          <p:cNvPr id="24" name="Shape 21"/>
          <p:cNvSpPr/>
          <p:nvPr/>
        </p:nvSpPr>
        <p:spPr>
          <a:xfrm>
            <a:off x="4936331" y="2580680"/>
            <a:ext cx="3550444" cy="721519"/>
          </a:xfrm>
          <a:prstGeom prst="rect">
            <a:avLst/>
          </a:prstGeom>
          <a:solidFill>
            <a:srgbClr val="0A0A0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36331" y="2580680"/>
            <a:ext cx="3550444" cy="7215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EnumProcesses()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 EnumProcessModules()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 EnumDeviceDrivers()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 CreateToolhelp32Snapshot()</a:t>
            </a:r>
            <a:endParaRPr lang="en-US" sz="727" dirty="0"/>
          </a:p>
        </p:txBody>
      </p:sp>
      <p:sp>
        <p:nvSpPr>
          <p:cNvPr id="26" name="Shape 23"/>
          <p:cNvSpPr/>
          <p:nvPr/>
        </p:nvSpPr>
        <p:spPr>
          <a:xfrm>
            <a:off x="7144" y="4545211"/>
            <a:ext cx="9129713" cy="3053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7144" y="4545211"/>
            <a:ext cx="9129713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5"/>
          <p:cNvSpPr/>
          <p:nvPr/>
        </p:nvSpPr>
        <p:spPr>
          <a:xfrm>
            <a:off x="435769" y="4695230"/>
            <a:ext cx="82724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B5CF6"/>
                </a:solidFill>
              </a:rPr>
              <a:t>&gt; DEFENSIVE PERSPECTIVE: Monitoring these API call patterns is critical for identifying early-stage reconnaissance and evasion attempts.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292894"/>
            <a:ext cx="8701088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FF41"/>
                </a:solidFill>
              </a:rPr>
              <a:t>Deep Dive: Injection &amp; Privilege Escalation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35769" y="891183"/>
            <a:ext cx="3921919" cy="27324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5CF6"/>
                </a:solidFill>
              </a:rPr>
              <a:t>Token Manipulation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35769" y="1343025"/>
            <a:ext cx="39219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Elevating to SYSTEM Level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35769" y="1625203"/>
            <a:ext cx="612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::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578644" y="1610916"/>
            <a:ext cx="1181872" cy="1839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578644" y="1610916"/>
            <a:ext cx="1181872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OpenProcessToken()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1760516" y="1625203"/>
            <a:ext cx="19027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: Accessing process security tokens.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35769" y="1866305"/>
            <a:ext cx="612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::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578644" y="1852017"/>
            <a:ext cx="1311604" cy="1839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578644" y="1852017"/>
            <a:ext cx="1311604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LookupPrivilegeValue()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1890247" y="1866305"/>
            <a:ext cx="18546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: Identifying specific system rights.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435769" y="2107406"/>
            <a:ext cx="612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::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578644" y="2093119"/>
            <a:ext cx="1331500" cy="1839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3"/>
          <p:cNvSpPr/>
          <p:nvPr/>
        </p:nvSpPr>
        <p:spPr>
          <a:xfrm>
            <a:off x="578644" y="2093119"/>
            <a:ext cx="1331500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AdjustTokenPrivileges()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578644" y="2107406"/>
            <a:ext cx="32131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: Enabling critical permissions (e.g., SeDebugPrivilege).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435769" y="2575322"/>
            <a:ext cx="2115806" cy="207169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5CF6"/>
                </a:solidFill>
              </a:rPr>
              <a:t>MITRE T1134: Access Token Manipulation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4786313" y="891183"/>
            <a:ext cx="3921919" cy="27324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5CF6"/>
                </a:solidFill>
              </a:rPr>
              <a:t>Injection Vectors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86313" y="1343025"/>
            <a:ext cx="39219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Arbitrary Code Execution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4786313" y="1625203"/>
            <a:ext cx="612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::</a:t>
            </a:r>
            <a:endParaRPr lang="en-US" sz="834" dirty="0"/>
          </a:p>
        </p:txBody>
      </p:sp>
      <p:sp>
        <p:nvSpPr>
          <p:cNvPr id="22" name="Shape 19"/>
          <p:cNvSpPr/>
          <p:nvPr/>
        </p:nvSpPr>
        <p:spPr>
          <a:xfrm>
            <a:off x="4929188" y="1610916"/>
            <a:ext cx="978191" cy="1839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0"/>
          <p:cNvSpPr/>
          <p:nvPr/>
        </p:nvSpPr>
        <p:spPr>
          <a:xfrm>
            <a:off x="4929188" y="1610916"/>
            <a:ext cx="978191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QueueUserAPC()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5907379" y="1625203"/>
            <a:ext cx="21493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: Asynchronous Procedure Call injection.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4786313" y="1866305"/>
            <a:ext cx="612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::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4929188" y="1852017"/>
            <a:ext cx="1301083" cy="1839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4"/>
          <p:cNvSpPr/>
          <p:nvPr/>
        </p:nvSpPr>
        <p:spPr>
          <a:xfrm>
            <a:off x="4929188" y="1852017"/>
            <a:ext cx="1301083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CreateRemoteThread()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6230271" y="1866305"/>
            <a:ext cx="20834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: Classic cross-process thread injection.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4786313" y="2107406"/>
            <a:ext cx="612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::</a:t>
            </a:r>
            <a:endParaRPr lang="en-US" sz="834" dirty="0"/>
          </a:p>
        </p:txBody>
      </p:sp>
      <p:sp>
        <p:nvSpPr>
          <p:cNvPr id="30" name="Shape 27"/>
          <p:cNvSpPr/>
          <p:nvPr/>
        </p:nvSpPr>
        <p:spPr>
          <a:xfrm>
            <a:off x="4929188" y="2093119"/>
            <a:ext cx="649356" cy="1839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8"/>
          <p:cNvSpPr/>
          <p:nvPr/>
        </p:nvSpPr>
        <p:spPr>
          <a:xfrm>
            <a:off x="4929188" y="2093119"/>
            <a:ext cx="649356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SetPropA()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5578543" y="2107406"/>
            <a:ext cx="26511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: Specialized property-based injection techniques.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4786313" y="2419945"/>
            <a:ext cx="1643732" cy="207169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5CF6"/>
                </a:solidFill>
              </a:rPr>
              <a:t>MITRE T1055: Process Injection</a:t>
            </a:r>
            <a:endParaRPr lang="en-US" sz="727" dirty="0"/>
          </a:p>
        </p:txBody>
      </p:sp>
      <p:sp>
        <p:nvSpPr>
          <p:cNvPr id="34" name="Text 31"/>
          <p:cNvSpPr/>
          <p:nvPr/>
        </p:nvSpPr>
        <p:spPr>
          <a:xfrm>
            <a:off x="435769" y="3575447"/>
            <a:ext cx="82724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5555"/>
                </a:solidFill>
              </a:rPr>
              <a:t>[!] SECURITY IMPACT: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5555"/>
                </a:solidFill>
              </a:rPr>
              <a:t> These techniques represent critical vulnerabilities that enable attackers to bypass process boundaries and execute code with the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5555"/>
                </a:solidFill>
              </a:rPr>
              <a:t>highest possible system privileges.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435769" y="3989784"/>
            <a:ext cx="82724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Detection: Monitor for unusual cross-process handle requests and SeDebugPrivilege adjustments.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292894"/>
            <a:ext cx="8701088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FF41"/>
                </a:solidFill>
              </a:rPr>
              <a:t>Deep Dive: Ransomware &amp; Spying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069777"/>
            <a:ext cx="137517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1898" y="1041202"/>
            <a:ext cx="19067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8B5CF6"/>
                </a:solidFill>
              </a:rPr>
              <a:t>Ransomware (Crypto)</a:t>
            </a:r>
            <a:endParaRPr lang="en-US" sz="1090" dirty="0"/>
          </a:p>
        </p:txBody>
      </p:sp>
      <p:sp>
        <p:nvSpPr>
          <p:cNvPr id="6" name="Text 2"/>
          <p:cNvSpPr/>
          <p:nvPr/>
        </p:nvSpPr>
        <p:spPr>
          <a:xfrm>
            <a:off x="657225" y="1434108"/>
            <a:ext cx="35504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DPAPI Operations</a:t>
            </a:r>
            <a:endParaRPr lang="en-US" sz="784" dirty="0"/>
          </a:p>
        </p:txBody>
      </p:sp>
      <p:sp>
        <p:nvSpPr>
          <p:cNvPr id="7" name="Text 3"/>
          <p:cNvSpPr/>
          <p:nvPr/>
        </p:nvSpPr>
        <p:spPr>
          <a:xfrm>
            <a:off x="657225" y="1625203"/>
            <a:ext cx="35504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`CryptProtectData`, `CryptUnprotectData` for Windows Data Protection API abuse.</a:t>
            </a:r>
            <a:endParaRPr lang="en-US" sz="727" dirty="0"/>
          </a:p>
        </p:txBody>
      </p:sp>
      <p:sp>
        <p:nvSpPr>
          <p:cNvPr id="8" name="Text 4"/>
          <p:cNvSpPr/>
          <p:nvPr/>
        </p:nvSpPr>
        <p:spPr>
          <a:xfrm>
            <a:off x="657225" y="2048080"/>
            <a:ext cx="35504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Key Generation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657225" y="2239175"/>
            <a:ext cx="35504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`CryptGenRandom`, `CryptDeriveKey` for secure random generation and key derivation.</a:t>
            </a:r>
            <a:endParaRPr lang="en-US" sz="727" dirty="0"/>
          </a:p>
        </p:txBody>
      </p:sp>
      <p:sp>
        <p:nvSpPr>
          <p:cNvPr id="10" name="Text 6"/>
          <p:cNvSpPr/>
          <p:nvPr/>
        </p:nvSpPr>
        <p:spPr>
          <a:xfrm>
            <a:off x="657225" y="2662051"/>
            <a:ext cx="35504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Symmetric Encryption</a:t>
            </a:r>
            <a:endParaRPr lang="en-US" sz="784" dirty="0"/>
          </a:p>
        </p:txBody>
      </p:sp>
      <p:sp>
        <p:nvSpPr>
          <p:cNvPr id="11" name="Text 7"/>
          <p:cNvSpPr/>
          <p:nvPr/>
        </p:nvSpPr>
        <p:spPr>
          <a:xfrm>
            <a:off x="657225" y="2853147"/>
            <a:ext cx="35504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`CryptEncrypt`, `CryptDecrypt` implementations using AES and DES algorithms.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657225" y="3276023"/>
            <a:ext cx="35504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Hashing Primitives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657225" y="3467119"/>
            <a:ext cx="355044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`CryptHashData` for SHA/MD5 algorithm implementations in malware.</a:t>
            </a:r>
            <a:endParaRPr lang="en-US" sz="727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31" y="1069777"/>
            <a:ext cx="176808" cy="1571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20295" y="1041202"/>
            <a:ext cx="18958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8B5CF6"/>
                </a:solidFill>
              </a:rPr>
              <a:t>Spying (Surveillance)</a:t>
            </a:r>
            <a:endParaRPr lang="en-US" sz="1090" dirty="0"/>
          </a:p>
        </p:txBody>
      </p:sp>
      <p:sp>
        <p:nvSpPr>
          <p:cNvPr id="16" name="Text 11"/>
          <p:cNvSpPr/>
          <p:nvPr/>
        </p:nvSpPr>
        <p:spPr>
          <a:xfrm>
            <a:off x="4936331" y="1434108"/>
            <a:ext cx="35504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Screen Capture</a:t>
            </a:r>
            <a:endParaRPr lang="en-US" sz="784" dirty="0"/>
          </a:p>
        </p:txBody>
      </p:sp>
      <p:sp>
        <p:nvSpPr>
          <p:cNvPr id="17" name="Text 12"/>
          <p:cNvSpPr/>
          <p:nvPr/>
        </p:nvSpPr>
        <p:spPr>
          <a:xfrm>
            <a:off x="4936331" y="1625203"/>
            <a:ext cx="35504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`BitBlt` and Desktop Window Manager APIs for screenshot and video recording.</a:t>
            </a:r>
            <a:endParaRPr lang="en-US" sz="727" dirty="0"/>
          </a:p>
        </p:txBody>
      </p:sp>
      <p:sp>
        <p:nvSpPr>
          <p:cNvPr id="18" name="Text 13"/>
          <p:cNvSpPr/>
          <p:nvPr/>
        </p:nvSpPr>
        <p:spPr>
          <a:xfrm>
            <a:off x="4936331" y="2048080"/>
            <a:ext cx="35504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Input Monitoring</a:t>
            </a:r>
            <a:endParaRPr lang="en-US" sz="784" dirty="0"/>
          </a:p>
        </p:txBody>
      </p:sp>
      <p:sp>
        <p:nvSpPr>
          <p:cNvPr id="19" name="Text 14"/>
          <p:cNvSpPr/>
          <p:nvPr/>
        </p:nvSpPr>
        <p:spPr>
          <a:xfrm>
            <a:off x="4936331" y="2239175"/>
            <a:ext cx="35504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`SetWindowsHookEx` for keyboard/mouse hooks and low-level input capture.</a:t>
            </a:r>
            <a:endParaRPr lang="en-US" sz="727" dirty="0"/>
          </a:p>
        </p:txBody>
      </p:sp>
      <p:sp>
        <p:nvSpPr>
          <p:cNvPr id="20" name="Text 15"/>
          <p:cNvSpPr/>
          <p:nvPr/>
        </p:nvSpPr>
        <p:spPr>
          <a:xfrm>
            <a:off x="4936331" y="2662051"/>
            <a:ext cx="35504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Clipboard Tracking</a:t>
            </a:r>
            <a:endParaRPr lang="en-US" sz="784" dirty="0"/>
          </a:p>
        </p:txBody>
      </p:sp>
      <p:sp>
        <p:nvSpPr>
          <p:cNvPr id="21" name="Text 16"/>
          <p:cNvSpPr/>
          <p:nvPr/>
        </p:nvSpPr>
        <p:spPr>
          <a:xfrm>
            <a:off x="4936331" y="2853147"/>
            <a:ext cx="355044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`GetClipboardData` and change notifications for sensitive data exfiltration.</a:t>
            </a:r>
            <a:endParaRPr lang="en-US" sz="727" dirty="0"/>
          </a:p>
        </p:txBody>
      </p:sp>
      <p:sp>
        <p:nvSpPr>
          <p:cNvPr id="22" name="Text 17"/>
          <p:cNvSpPr/>
          <p:nvPr/>
        </p:nvSpPr>
        <p:spPr>
          <a:xfrm>
            <a:off x="4936331" y="3136023"/>
            <a:ext cx="35504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</a:rPr>
              <a:t>Window Tracking</a:t>
            </a:r>
            <a:endParaRPr lang="en-US" sz="784" dirty="0"/>
          </a:p>
        </p:txBody>
      </p:sp>
      <p:sp>
        <p:nvSpPr>
          <p:cNvPr id="23" name="Text 18"/>
          <p:cNvSpPr/>
          <p:nvPr/>
        </p:nvSpPr>
        <p:spPr>
          <a:xfrm>
            <a:off x="4936331" y="3327118"/>
            <a:ext cx="355044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`GetForegroundWindow` for active application monitoring and focus detection.</a:t>
            </a:r>
            <a:endParaRPr lang="en-US" sz="727" dirty="0"/>
          </a:p>
        </p:txBody>
      </p:sp>
      <p:sp>
        <p:nvSpPr>
          <p:cNvPr id="24" name="Shape 19"/>
          <p:cNvSpPr/>
          <p:nvPr/>
        </p:nvSpPr>
        <p:spPr>
          <a:xfrm>
            <a:off x="435769" y="4395192"/>
            <a:ext cx="8272463" cy="455414"/>
          </a:xfrm>
          <a:prstGeom prst="rect">
            <a:avLst/>
          </a:prstGeom>
          <a:solidFill>
            <a:srgbClr val="FF5555">
              <a:alpha val="5000"/>
            </a:srgbClr>
          </a:solidFill>
          <a:ln w="9144">
            <a:solidFill>
              <a:srgbClr val="FF555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63" y="4573786"/>
            <a:ext cx="114300" cy="1143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68763" y="4552355"/>
            <a:ext cx="59207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5555"/>
                </a:solidFill>
              </a:rPr>
              <a:t>ETHICAL WARNING: MOST INVASIVE CATEGORIES. STRICT ETHICAL REQUIREMENTS APPLY. VM-ONLY USE.</a:t>
            </a:r>
            <a:endParaRPr lang="en-US" sz="7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292894"/>
            <a:ext cx="8701088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FF41"/>
                </a:solidFill>
              </a:rPr>
              <a:t>Technical Implementation &amp; Build Stack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9" y="842963"/>
            <a:ext cx="160734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7941" y="819745"/>
            <a:ext cx="21966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5CF6"/>
                </a:solidFill>
              </a:rPr>
              <a:t>Language &amp; Core Specifications</a:t>
            </a:r>
            <a:endParaRPr lang="en-US" sz="942" dirty="0"/>
          </a:p>
        </p:txBody>
      </p:sp>
      <p:sp>
        <p:nvSpPr>
          <p:cNvPr id="6" name="Text 2"/>
          <p:cNvSpPr/>
          <p:nvPr/>
        </p:nvSpPr>
        <p:spPr>
          <a:xfrm>
            <a:off x="435769" y="1101923"/>
            <a:ext cx="4064794" cy="15537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100% Pure C Codebase</a:t>
            </a:r>
            <a:endParaRPr lang="en-US" sz="834" dirty="0"/>
          </a:p>
        </p:txBody>
      </p:sp>
      <p:sp>
        <p:nvSpPr>
          <p:cNvPr id="7" name="Text 3"/>
          <p:cNvSpPr/>
          <p:nvPr/>
        </p:nvSpPr>
        <p:spPr>
          <a:xfrm>
            <a:off x="4643438" y="1101923"/>
            <a:ext cx="4064794" cy="15537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Direct Windows API Calls</a:t>
            </a:r>
            <a:endParaRPr lang="en-US" sz="834" dirty="0"/>
          </a:p>
        </p:txBody>
      </p:sp>
      <p:sp>
        <p:nvSpPr>
          <p:cNvPr id="8" name="Text 4"/>
          <p:cNvSpPr/>
          <p:nvPr/>
        </p:nvSpPr>
        <p:spPr>
          <a:xfrm>
            <a:off x="435769" y="1400175"/>
            <a:ext cx="4064794" cy="15537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Zero External Dependencies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4643438" y="1400175"/>
            <a:ext cx="4064794" cy="15537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Maximum Performance &amp; Control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435769" y="1101923"/>
            <a:ext cx="653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&gt;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4643438" y="1101923"/>
            <a:ext cx="653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&gt;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435769" y="1400175"/>
            <a:ext cx="653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&gt;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4643438" y="1400175"/>
            <a:ext cx="653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&gt;</a:t>
            </a:r>
            <a:endParaRPr lang="en-US" sz="834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9" y="1828800"/>
            <a:ext cx="128588" cy="128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794" y="1805583"/>
            <a:ext cx="15761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5CF6"/>
                </a:solidFill>
              </a:rPr>
              <a:t>Supported Toolchains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439341" y="2091333"/>
            <a:ext cx="2568094" cy="228600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39341" y="2091333"/>
            <a:ext cx="2568094" cy="228600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</a:rPr>
              <a:t>Toolchain</a:t>
            </a:r>
            <a:endParaRPr lang="en-US" sz="683" dirty="0"/>
          </a:p>
        </p:txBody>
      </p:sp>
      <p:sp>
        <p:nvSpPr>
          <p:cNvPr id="18" name="Shape 13"/>
          <p:cNvSpPr/>
          <p:nvPr/>
        </p:nvSpPr>
        <p:spPr>
          <a:xfrm>
            <a:off x="3007435" y="2091333"/>
            <a:ext cx="1530548" cy="228600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007435" y="2091333"/>
            <a:ext cx="1530548" cy="228600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</a:rPr>
              <a:t>Version</a:t>
            </a:r>
            <a:endParaRPr lang="en-US" sz="683" dirty="0"/>
          </a:p>
        </p:txBody>
      </p:sp>
      <p:sp>
        <p:nvSpPr>
          <p:cNvPr id="20" name="Shape 15"/>
          <p:cNvSpPr/>
          <p:nvPr/>
        </p:nvSpPr>
        <p:spPr>
          <a:xfrm>
            <a:off x="4537983" y="2091333"/>
            <a:ext cx="4166676" cy="228600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37983" y="2091333"/>
            <a:ext cx="4166676" cy="228600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</a:rPr>
              <a:t>Primary Use Case</a:t>
            </a:r>
            <a:endParaRPr lang="en-US" sz="683" dirty="0"/>
          </a:p>
        </p:txBody>
      </p:sp>
      <p:sp>
        <p:nvSpPr>
          <p:cNvPr id="22" name="Text 17"/>
          <p:cNvSpPr/>
          <p:nvPr/>
        </p:nvSpPr>
        <p:spPr>
          <a:xfrm>
            <a:off x="439341" y="2319933"/>
            <a:ext cx="2568094" cy="228600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MSVC (Microsoft Visual C++)</a:t>
            </a:r>
            <a:endParaRPr lang="en-US" sz="727" dirty="0"/>
          </a:p>
        </p:txBody>
      </p:sp>
      <p:sp>
        <p:nvSpPr>
          <p:cNvPr id="23" name="Text 18"/>
          <p:cNvSpPr/>
          <p:nvPr/>
        </p:nvSpPr>
        <p:spPr>
          <a:xfrm>
            <a:off x="3007435" y="2319933"/>
            <a:ext cx="1530548" cy="228600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VS 2019 / 2022</a:t>
            </a:r>
            <a:endParaRPr lang="en-US" sz="727" dirty="0"/>
          </a:p>
        </p:txBody>
      </p:sp>
      <p:sp>
        <p:nvSpPr>
          <p:cNvPr id="24" name="Text 19"/>
          <p:cNvSpPr/>
          <p:nvPr/>
        </p:nvSpPr>
        <p:spPr>
          <a:xfrm>
            <a:off x="4537983" y="2319933"/>
            <a:ext cx="4166676" cy="228600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Native Windows Development &amp; IDE Integration</a:t>
            </a:r>
            <a:endParaRPr lang="en-US" sz="727" dirty="0"/>
          </a:p>
        </p:txBody>
      </p:sp>
      <p:sp>
        <p:nvSpPr>
          <p:cNvPr id="25" name="Text 20"/>
          <p:cNvSpPr/>
          <p:nvPr/>
        </p:nvSpPr>
        <p:spPr>
          <a:xfrm>
            <a:off x="439341" y="2548533"/>
            <a:ext cx="2568094" cy="228600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MinGW-w64 (GCC)</a:t>
            </a:r>
            <a:endParaRPr lang="en-US" sz="727" dirty="0"/>
          </a:p>
        </p:txBody>
      </p:sp>
      <p:sp>
        <p:nvSpPr>
          <p:cNvPr id="26" name="Text 21"/>
          <p:cNvSpPr/>
          <p:nvPr/>
        </p:nvSpPr>
        <p:spPr>
          <a:xfrm>
            <a:off x="3007435" y="2548533"/>
            <a:ext cx="1530548" cy="228600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GCC 8.0+</a:t>
            </a:r>
            <a:endParaRPr lang="en-US" sz="727" dirty="0"/>
          </a:p>
        </p:txBody>
      </p:sp>
      <p:sp>
        <p:nvSpPr>
          <p:cNvPr id="27" name="Text 22"/>
          <p:cNvSpPr/>
          <p:nvPr/>
        </p:nvSpPr>
        <p:spPr>
          <a:xfrm>
            <a:off x="4537983" y="2548533"/>
            <a:ext cx="4166676" cy="228600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Cross-platform Compatibility &amp; CLI Workflows</a:t>
            </a:r>
            <a:endParaRPr lang="en-US" sz="727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9" y="3053953"/>
            <a:ext cx="144661" cy="1285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51867" y="3030736"/>
            <a:ext cx="96803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5CF6"/>
                </a:solidFill>
              </a:rPr>
              <a:t>Build Process</a:t>
            </a:r>
            <a:endParaRPr lang="en-US" sz="942" dirty="0"/>
          </a:p>
        </p:txBody>
      </p:sp>
      <p:sp>
        <p:nvSpPr>
          <p:cNvPr id="30" name="Shape 24"/>
          <p:cNvSpPr/>
          <p:nvPr/>
        </p:nvSpPr>
        <p:spPr>
          <a:xfrm>
            <a:off x="435769" y="3312914"/>
            <a:ext cx="8272463" cy="957207"/>
          </a:xfrm>
          <a:prstGeom prst="rect">
            <a:avLst/>
          </a:prstGeom>
          <a:solidFill>
            <a:srgbClr val="0A0A0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35769" y="3312914"/>
            <a:ext cx="8272463" cy="957207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# Visual Studio (MSVC)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 cl.exe /O2 technique.c /link user32.lib advapi32.lib psapi.lib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# MinGW-w64 (GCC)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 gcc -O2 technique.c -o technique.exe -luser32 -ladvapi32 -lpsapi</a:t>
            </a:r>
            <a:endParaRPr lang="en-US" sz="727" dirty="0"/>
          </a:p>
        </p:txBody>
      </p:sp>
      <p:sp>
        <p:nvSpPr>
          <p:cNvPr id="32" name="Shape 26"/>
          <p:cNvSpPr/>
          <p:nvPr/>
        </p:nvSpPr>
        <p:spPr>
          <a:xfrm>
            <a:off x="7144" y="4564856"/>
            <a:ext cx="9129713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3" name="Shape 27"/>
          <p:cNvSpPr/>
          <p:nvPr/>
        </p:nvSpPr>
        <p:spPr>
          <a:xfrm>
            <a:off x="7144" y="4564856"/>
            <a:ext cx="9129713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4" name="Text 28"/>
          <p:cNvSpPr/>
          <p:nvPr/>
        </p:nvSpPr>
        <p:spPr>
          <a:xfrm>
            <a:off x="435769" y="4714875"/>
            <a:ext cx="21575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5CF6"/>
                </a:solidFill>
              </a:rPr>
              <a:t>PLATFORM: Windows 10 (1809+) / Windows 11</a:t>
            </a:r>
            <a:endParaRPr lang="en-US" sz="727" dirty="0"/>
          </a:p>
        </p:txBody>
      </p:sp>
      <p:sp>
        <p:nvSpPr>
          <p:cNvPr id="35" name="Text 29"/>
          <p:cNvSpPr/>
          <p:nvPr/>
        </p:nvSpPr>
        <p:spPr>
          <a:xfrm>
            <a:off x="6828783" y="4714875"/>
            <a:ext cx="18794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5CF6"/>
                </a:solidFill>
              </a:rPr>
              <a:t>REQUIREMENT: Administrator Privileges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292894"/>
            <a:ext cx="8701088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FF41"/>
                </a:solidFill>
              </a:rPr>
              <a:t>Code Quality &amp; Documentation Standards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85788" y="1005483"/>
            <a:ext cx="2314575" cy="25360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5CF6"/>
                </a:solidFill>
              </a:rPr>
              <a:t>Documentation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85788" y="1401961"/>
            <a:ext cx="23145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</a:rPr>
              <a:t>File-Level Metadata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85788" y="1573411"/>
            <a:ext cx="23145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Technique overview, MITRE ATT&amp;CK mapping, and compilation instructions in every source file.</a:t>
            </a:r>
            <a:endParaRPr lang="en-US" sz="674" dirty="0"/>
          </a:p>
        </p:txBody>
      </p:sp>
      <p:sp>
        <p:nvSpPr>
          <p:cNvPr id="7" name="Text 4"/>
          <p:cNvSpPr/>
          <p:nvPr/>
        </p:nvSpPr>
        <p:spPr>
          <a:xfrm>
            <a:off x="585788" y="1940589"/>
            <a:ext cx="23145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</a:rPr>
              <a:t>Function Semantics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85788" y="2112039"/>
            <a:ext cx="23145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Detailed parameter descriptions, return value logic, and error handling patterns.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585788" y="2479216"/>
            <a:ext cx="23145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</a:rPr>
              <a:t>Inline Rationale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85788" y="2650666"/>
            <a:ext cx="23145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API usage justification, security implications, and detection considerations.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3414713" y="1005483"/>
            <a:ext cx="2314575" cy="25360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5CF6"/>
                </a:solidFill>
              </a:rPr>
              <a:t>Quality Features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3414713" y="1401961"/>
            <a:ext cx="23145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</a:rPr>
              <a:t>Zero Dependencies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3414713" y="1573411"/>
            <a:ext cx="23145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Standalone executables using direct Windows API calls without external libraries.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3414713" y="1940589"/>
            <a:ext cx="23145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</a:rPr>
              <a:t>Resource Integrity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3414713" y="2112039"/>
            <a:ext cx="23145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Consistent error handling and strict resource cleanup to prevent memory leaks.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3414713" y="2479216"/>
            <a:ext cx="23145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</a:rPr>
              <a:t>Production Ready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3414713" y="2650666"/>
            <a:ext cx="23145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Clear variable naming and expected output examples for forensic validation.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6243638" y="1005483"/>
            <a:ext cx="2314575" cy="25360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5CF6"/>
                </a:solidFill>
              </a:rPr>
              <a:t>Educational Design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6243638" y="1401961"/>
            <a:ext cx="23145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</a:rPr>
              <a:t>Atomic Techniques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6243638" y="1573411"/>
            <a:ext cx="23145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"One file = One technique" approach for maximum readability and focus.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6243638" y="1940589"/>
            <a:ext cx="23145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</a:rPr>
              <a:t>No Obfuscation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6243638" y="2112039"/>
            <a:ext cx="23145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CCCCC"/>
                </a:solidFill>
              </a:rPr>
              <a:t>Clear, readable C code designed for learning rather than evasion.</a:t>
            </a:r>
            <a:endParaRPr lang="en-US" sz="674" dirty="0"/>
          </a:p>
        </p:txBody>
      </p:sp>
      <p:sp>
        <p:nvSpPr>
          <p:cNvPr id="23" name="Shape 20"/>
          <p:cNvSpPr/>
          <p:nvPr/>
        </p:nvSpPr>
        <p:spPr>
          <a:xfrm>
            <a:off x="6243638" y="2514935"/>
            <a:ext cx="2314575" cy="469702"/>
          </a:xfrm>
          <a:prstGeom prst="rect">
            <a:avLst/>
          </a:prstGeom>
          <a:solidFill>
            <a:srgbClr val="0A0A0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50794" y="2622091"/>
            <a:ext cx="2207419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5CF6"/>
                </a:solidFill>
              </a:rPr>
              <a:t>Category/</a:t>
            </a:r>
            <a:endParaRPr lang="en-US" sz="621" dirty="0"/>
          </a:p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5CF6"/>
                </a:solidFill>
              </a:rPr>
              <a:t>├── README.md (Overview)</a:t>
            </a:r>
            <a:endParaRPr lang="en-US" sz="621" dirty="0"/>
          </a:p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B5CF6"/>
                </a:solidFill>
              </a:rPr>
              <a:t>├── technique.c (Source)</a:t>
            </a:r>
            <a:endParaRPr lang="en-US" sz="621" dirty="0"/>
          </a:p>
        </p:txBody>
      </p:sp>
      <p:sp>
        <p:nvSpPr>
          <p:cNvPr id="25" name="Shape 22"/>
          <p:cNvSpPr/>
          <p:nvPr/>
        </p:nvSpPr>
        <p:spPr>
          <a:xfrm>
            <a:off x="7144" y="4564856"/>
            <a:ext cx="9129713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7144" y="4564856"/>
            <a:ext cx="9129713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4"/>
          <p:cNvSpPr/>
          <p:nvPr/>
        </p:nvSpPr>
        <p:spPr>
          <a:xfrm>
            <a:off x="435769" y="4714875"/>
            <a:ext cx="11339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LINT_STATUS: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PASSED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3885726" y="4714875"/>
            <a:ext cx="11896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DOC_COVERAGE: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100%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7391381" y="4714875"/>
            <a:ext cx="13168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BUILD_STABILITY: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STABLE</a:t>
            </a: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292894"/>
            <a:ext cx="8701088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FF5555"/>
                </a:solidFill>
              </a:rPr>
              <a:t>Security &amp; Ethical Considerations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35769" y="819745"/>
            <a:ext cx="8272463" cy="830461"/>
          </a:xfrm>
          <a:prstGeom prst="rect">
            <a:avLst/>
          </a:prstGeom>
          <a:solidFill>
            <a:srgbClr val="FF5555">
              <a:alpha val="10000"/>
            </a:srgbClr>
          </a:solidFill>
          <a:ln w="18288">
            <a:solidFill>
              <a:srgbClr val="FF5555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1" y="993874"/>
            <a:ext cx="192881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0119" y="962620"/>
            <a:ext cx="26384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5555"/>
                </a:solidFill>
              </a:rPr>
              <a:t>CRITICAL SECURITY WARNINGS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650081" y="1303734"/>
            <a:ext cx="23136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[!] NEVER ON PRODUCTION SYSTEMS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3266424" y="1303734"/>
            <a:ext cx="24943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[!] VM / ISOLATED ENVIRONMENT ONLY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6063453" y="1303734"/>
            <a:ext cx="24304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[!] AUTHORIZED TESTING EXCLUSIVELY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657225" y="2128838"/>
            <a:ext cx="3550444" cy="27324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41"/>
                </a:solidFill>
              </a:rPr>
              <a:t>Ethical Guidelines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657225" y="2544961"/>
            <a:ext cx="61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FF5555"/>
                </a:solidFill>
              </a:rPr>
              <a:t>&gt;</a:t>
            </a:r>
            <a:endParaRPr lang="en-US" sz="780" dirty="0"/>
          </a:p>
        </p:txBody>
      </p:sp>
      <p:sp>
        <p:nvSpPr>
          <p:cNvPr id="12" name="Text 8"/>
          <p:cNvSpPr/>
          <p:nvPr/>
        </p:nvSpPr>
        <p:spPr>
          <a:xfrm>
            <a:off x="835819" y="2546747"/>
            <a:ext cx="128288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CCCCCC"/>
                </a:solidFill>
              </a:rPr>
              <a:t>Authorization Required:</a:t>
            </a:r>
            <a:endParaRPr lang="en-US" sz="734" dirty="0"/>
          </a:p>
        </p:txBody>
      </p:sp>
      <p:sp>
        <p:nvSpPr>
          <p:cNvPr id="13" name="Text 9"/>
          <p:cNvSpPr/>
          <p:nvPr/>
        </p:nvSpPr>
        <p:spPr>
          <a:xfrm>
            <a:off x="835819" y="2546747"/>
            <a:ext cx="3169704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Explicit permission must be obtained before any testing.</a:t>
            </a:r>
            <a:endParaRPr lang="en-US" sz="780" dirty="0"/>
          </a:p>
        </p:txBody>
      </p:sp>
      <p:sp>
        <p:nvSpPr>
          <p:cNvPr id="14" name="Text 10"/>
          <p:cNvSpPr/>
          <p:nvPr/>
        </p:nvSpPr>
        <p:spPr>
          <a:xfrm>
            <a:off x="657225" y="2952155"/>
            <a:ext cx="61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FF5555"/>
                </a:solidFill>
              </a:rPr>
              <a:t>&gt;</a:t>
            </a:r>
            <a:endParaRPr lang="en-US" sz="780" dirty="0"/>
          </a:p>
        </p:txBody>
      </p:sp>
      <p:sp>
        <p:nvSpPr>
          <p:cNvPr id="15" name="Text 11"/>
          <p:cNvSpPr/>
          <p:nvPr/>
        </p:nvSpPr>
        <p:spPr>
          <a:xfrm>
            <a:off x="835819" y="2953941"/>
            <a:ext cx="112687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CCCCCC"/>
                </a:solidFill>
              </a:rPr>
              <a:t>Educational Purpose:</a:t>
            </a:r>
            <a:endParaRPr lang="en-US" sz="734" dirty="0"/>
          </a:p>
        </p:txBody>
      </p:sp>
      <p:sp>
        <p:nvSpPr>
          <p:cNvPr id="16" name="Text 12"/>
          <p:cNvSpPr/>
          <p:nvPr/>
        </p:nvSpPr>
        <p:spPr>
          <a:xfrm>
            <a:off x="835819" y="2953941"/>
            <a:ext cx="3336773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Intended strictly for learning, research, and defensive growth.</a:t>
            </a:r>
            <a:endParaRPr lang="en-US" sz="780" dirty="0"/>
          </a:p>
        </p:txBody>
      </p:sp>
      <p:sp>
        <p:nvSpPr>
          <p:cNvPr id="17" name="Text 13"/>
          <p:cNvSpPr/>
          <p:nvPr/>
        </p:nvSpPr>
        <p:spPr>
          <a:xfrm>
            <a:off x="657225" y="3359348"/>
            <a:ext cx="61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FF5555"/>
                </a:solidFill>
              </a:rPr>
              <a:t>&gt;</a:t>
            </a:r>
            <a:endParaRPr lang="en-US" sz="780" dirty="0"/>
          </a:p>
        </p:txBody>
      </p:sp>
      <p:sp>
        <p:nvSpPr>
          <p:cNvPr id="18" name="Text 14"/>
          <p:cNvSpPr/>
          <p:nvPr/>
        </p:nvSpPr>
        <p:spPr>
          <a:xfrm>
            <a:off x="835819" y="3361134"/>
            <a:ext cx="94621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CCCCCC"/>
                </a:solidFill>
              </a:rPr>
              <a:t>No Malicious Use:</a:t>
            </a:r>
            <a:endParaRPr lang="en-US" sz="734" dirty="0"/>
          </a:p>
        </p:txBody>
      </p:sp>
      <p:sp>
        <p:nvSpPr>
          <p:cNvPr id="19" name="Text 15"/>
          <p:cNvSpPr/>
          <p:nvPr/>
        </p:nvSpPr>
        <p:spPr>
          <a:xfrm>
            <a:off x="835819" y="3361134"/>
            <a:ext cx="3059869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Use of these techniques for unauthorized activities is strictly prohibited.</a:t>
            </a:r>
            <a:endParaRPr lang="en-US" sz="780" dirty="0"/>
          </a:p>
        </p:txBody>
      </p:sp>
      <p:sp>
        <p:nvSpPr>
          <p:cNvPr id="20" name="Text 16"/>
          <p:cNvSpPr/>
          <p:nvPr/>
        </p:nvSpPr>
        <p:spPr>
          <a:xfrm>
            <a:off x="657225" y="3766542"/>
            <a:ext cx="61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FF5555"/>
                </a:solidFill>
              </a:rPr>
              <a:t>&gt;</a:t>
            </a:r>
            <a:endParaRPr lang="en-US" sz="780" dirty="0"/>
          </a:p>
        </p:txBody>
      </p:sp>
      <p:sp>
        <p:nvSpPr>
          <p:cNvPr id="21" name="Text 17"/>
          <p:cNvSpPr/>
          <p:nvPr/>
        </p:nvSpPr>
        <p:spPr>
          <a:xfrm>
            <a:off x="835819" y="3768328"/>
            <a:ext cx="125289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CCCCCC"/>
                </a:solidFill>
              </a:rPr>
              <a:t>Responsible Disclosure:</a:t>
            </a:r>
            <a:endParaRPr lang="en-US" sz="734" dirty="0"/>
          </a:p>
        </p:txBody>
      </p:sp>
      <p:sp>
        <p:nvSpPr>
          <p:cNvPr id="22" name="Text 18"/>
          <p:cNvSpPr/>
          <p:nvPr/>
        </p:nvSpPr>
        <p:spPr>
          <a:xfrm>
            <a:off x="835819" y="3768328"/>
            <a:ext cx="3002328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CCCCCC"/>
                </a:solidFill>
              </a:rPr>
              <a:t>Vulnerabilities discovered must be reported through proper channels.</a:t>
            </a:r>
            <a:endParaRPr lang="en-US" sz="780" dirty="0"/>
          </a:p>
        </p:txBody>
      </p:sp>
      <p:sp>
        <p:nvSpPr>
          <p:cNvPr id="23" name="Text 19"/>
          <p:cNvSpPr/>
          <p:nvPr/>
        </p:nvSpPr>
        <p:spPr>
          <a:xfrm>
            <a:off x="4936331" y="2128838"/>
            <a:ext cx="3550444" cy="27324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41"/>
                </a:solidFill>
              </a:rPr>
              <a:t>Legal Disclaimer</a:t>
            </a:r>
            <a:endParaRPr lang="en-US" sz="987" dirty="0"/>
          </a:p>
        </p:txBody>
      </p:sp>
      <p:sp>
        <p:nvSpPr>
          <p:cNvPr id="24" name="Text 20"/>
          <p:cNvSpPr/>
          <p:nvPr/>
        </p:nvSpPr>
        <p:spPr>
          <a:xfrm>
            <a:off x="4936331" y="2544961"/>
            <a:ext cx="35504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888888"/>
                </a:solidFill>
              </a:rPr>
              <a:t>The MALFORGE project is provided under the MIT License "AS IS", without warranty of any kind, express or implied.</a:t>
            </a:r>
            <a:endParaRPr lang="en-US" sz="727" dirty="0"/>
          </a:p>
        </p:txBody>
      </p:sp>
      <p:sp>
        <p:nvSpPr>
          <p:cNvPr id="25" name="Text 21"/>
          <p:cNvSpPr/>
          <p:nvPr/>
        </p:nvSpPr>
        <p:spPr>
          <a:xfrm>
            <a:off x="4936331" y="2972135"/>
            <a:ext cx="35504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888888"/>
                </a:solidFill>
              </a:rPr>
              <a:t>The authors and contributors shall not be held liable for any claim, damages, or other liability arising from the use or misuse of the software.</a:t>
            </a:r>
            <a:endParaRPr lang="en-US" sz="727" dirty="0"/>
          </a:p>
        </p:txBody>
      </p:sp>
      <p:sp>
        <p:nvSpPr>
          <p:cNvPr id="26" name="Text 22"/>
          <p:cNvSpPr/>
          <p:nvPr/>
        </p:nvSpPr>
        <p:spPr>
          <a:xfrm>
            <a:off x="4936331" y="3399309"/>
            <a:ext cx="35504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888888"/>
                </a:solidFill>
              </a:rPr>
              <a:t>Users assume all responsibility for ensuring their activities comply with local, national, and international laws.</a:t>
            </a:r>
            <a:endParaRPr lang="en-US" sz="727" dirty="0"/>
          </a:p>
        </p:txBody>
      </p:sp>
      <p:sp>
        <p:nvSpPr>
          <p:cNvPr id="27" name="Text 23"/>
          <p:cNvSpPr/>
          <p:nvPr/>
        </p:nvSpPr>
        <p:spPr>
          <a:xfrm>
            <a:off x="7144" y="4532709"/>
            <a:ext cx="9129713" cy="603647"/>
          </a:xfrm>
          <a:prstGeom prst="rect">
            <a:avLst/>
          </a:prstGeom>
          <a:noFill/>
          <a:ln/>
        </p:spPr>
        <p:txBody>
          <a:bodyPr wrap="square" lIns="510286" tIns="170053" rIns="510286" bIns="340233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3" kern="0" dirty="0">
                <a:solidFill>
                  <a:srgbClr val="FF5555"/>
                </a:solidFill>
              </a:rPr>
              <a:t>STAY ETHICAL. STAY LEGAL. STAY SECURE.</a:t>
            </a:r>
            <a:endParaRPr lang="en-US" sz="88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5769" y="292894"/>
            <a:ext cx="8701088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00FF41"/>
                </a:solidFill>
              </a:rPr>
              <a:t>Future Roadmap &amp; Conclusion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621506" y="1005483"/>
            <a:ext cx="3621881" cy="27324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B5CF6"/>
                </a:solidFill>
              </a:rPr>
              <a:t>Current Achievements</a:t>
            </a:r>
            <a:endParaRPr lang="en-US" sz="987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06" y="1443038"/>
            <a:ext cx="85725" cy="857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2956" y="1421606"/>
            <a:ext cx="25119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6 Comprehensive technique categories implemented.</a:t>
            </a:r>
            <a:endParaRPr lang="en-US" sz="727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" y="1664494"/>
            <a:ext cx="85725" cy="857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2956" y="1643063"/>
            <a:ext cx="20049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40+ Production-quality C implementations.</a:t>
            </a:r>
            <a:endParaRPr lang="en-US" sz="727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" y="1885950"/>
            <a:ext cx="85725" cy="857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92956" y="1864519"/>
            <a:ext cx="26626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Industry-standard taxonomy alignment (MITRE/MALAPI).</a:t>
            </a:r>
            <a:endParaRPr lang="en-US" sz="727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" y="2107406"/>
            <a:ext cx="85725" cy="8572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92956" y="2085975"/>
            <a:ext cx="2359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Extensive DeepWiki AI documentation integration.</a:t>
            </a:r>
            <a:endParaRPr lang="en-US" sz="727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" y="2328863"/>
            <a:ext cx="85725" cy="8572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92956" y="2307431"/>
            <a:ext cx="169881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Active development (198+ commits).</a:t>
            </a:r>
            <a:endParaRPr lang="en-US" sz="727" dirty="0"/>
          </a:p>
        </p:txBody>
      </p:sp>
      <p:sp>
        <p:nvSpPr>
          <p:cNvPr id="15" name="Text 7"/>
          <p:cNvSpPr/>
          <p:nvPr/>
        </p:nvSpPr>
        <p:spPr>
          <a:xfrm>
            <a:off x="4900613" y="1005483"/>
            <a:ext cx="3621881" cy="27324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B5CF6"/>
                </a:solidFill>
              </a:rPr>
              <a:t>Future Roadmap</a:t>
            </a:r>
            <a:endParaRPr lang="en-US" sz="987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0613" y="1443038"/>
            <a:ext cx="85725" cy="8572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072063" y="1421606"/>
            <a:ext cx="233620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New Categories: Persistence &amp; Lateral Movement.</a:t>
            </a:r>
            <a:endParaRPr lang="en-US" sz="727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0613" y="1664494"/>
            <a:ext cx="85725" cy="85725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072063" y="1643063"/>
            <a:ext cx="23237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Automated detection rule generation (SIEM/EDR).</a:t>
            </a:r>
            <a:endParaRPr lang="en-US" sz="727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0613" y="1885950"/>
            <a:ext cx="96441" cy="85725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082778" y="1864519"/>
            <a:ext cx="17145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Comprehensive video tutorial series.</a:t>
            </a:r>
            <a:endParaRPr lang="en-US" sz="727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0613" y="2107406"/>
            <a:ext cx="85725" cy="85725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072063" y="2085975"/>
            <a:ext cx="18829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Multi-language documentation support.</a:t>
            </a:r>
            <a:endParaRPr lang="en-US" sz="727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0613" y="2328863"/>
            <a:ext cx="107156" cy="85725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5093494" y="2307431"/>
            <a:ext cx="23603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Academic research partnerships &amp; CTF challenges.</a:t>
            </a:r>
            <a:endParaRPr lang="en-US" sz="727" dirty="0"/>
          </a:p>
        </p:txBody>
      </p:sp>
      <p:sp>
        <p:nvSpPr>
          <p:cNvPr id="26" name="Shape 13"/>
          <p:cNvSpPr/>
          <p:nvPr/>
        </p:nvSpPr>
        <p:spPr>
          <a:xfrm>
            <a:off x="7144" y="3939108"/>
            <a:ext cx="9129713" cy="11972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14"/>
          <p:cNvSpPr/>
          <p:nvPr/>
        </p:nvSpPr>
        <p:spPr>
          <a:xfrm>
            <a:off x="7144" y="3939108"/>
            <a:ext cx="9129713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15"/>
          <p:cNvSpPr/>
          <p:nvPr/>
        </p:nvSpPr>
        <p:spPr>
          <a:xfrm>
            <a:off x="435769" y="4124846"/>
            <a:ext cx="827246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i="1" dirty="0">
                <a:solidFill>
                  <a:srgbClr val="FFFFFF"/>
                </a:solidFill>
              </a:rPr>
              <a:t>"MALFORGE bridges the gap between theoretical security knowledge and practical implementation, empowering the security community through transparency, education, and ethical research."</a:t>
            </a:r>
            <a:endParaRPr lang="en-US" sz="942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6363" y="4732734"/>
            <a:ext cx="96441" cy="100013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88522" y="4714875"/>
            <a:ext cx="4109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GitHub:</a:t>
            </a:r>
            <a:endParaRPr lang="en-US" sz="727" dirty="0"/>
          </a:p>
        </p:txBody>
      </p:sp>
      <p:sp>
        <p:nvSpPr>
          <p:cNvPr id="31" name="Text 17"/>
          <p:cNvSpPr/>
          <p:nvPr/>
        </p:nvSpPr>
        <p:spPr>
          <a:xfrm>
            <a:off x="1035202" y="4714875"/>
            <a:ext cx="20421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github.com/CyberForgeEx-Labs/MALFORGE</a:t>
            </a:r>
            <a:endParaRPr lang="en-US" sz="727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2852" y="4732734"/>
            <a:ext cx="87511" cy="100013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3386082" y="4714875"/>
            <a:ext cx="30824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Docs:</a:t>
            </a:r>
            <a:endParaRPr lang="en-US" sz="727" dirty="0"/>
          </a:p>
        </p:txBody>
      </p:sp>
      <p:sp>
        <p:nvSpPr>
          <p:cNvPr id="34" name="Text 19"/>
          <p:cNvSpPr/>
          <p:nvPr/>
        </p:nvSpPr>
        <p:spPr>
          <a:xfrm>
            <a:off x="3730042" y="4714875"/>
            <a:ext cx="21510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deepwiki.com/CyberForgeEx-Labs/MALFORGE</a:t>
            </a:r>
            <a:endParaRPr lang="en-US" sz="727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9567" y="4732734"/>
            <a:ext cx="125016" cy="100013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6790302" y="4714875"/>
            <a:ext cx="4275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License:</a:t>
            </a:r>
            <a:endParaRPr lang="en-US" sz="727" dirty="0"/>
          </a:p>
        </p:txBody>
      </p:sp>
      <p:sp>
        <p:nvSpPr>
          <p:cNvPr id="37" name="Text 21"/>
          <p:cNvSpPr/>
          <p:nvPr/>
        </p:nvSpPr>
        <p:spPr>
          <a:xfrm>
            <a:off x="7253585" y="4714875"/>
            <a:ext cx="8710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MIT (Open Source)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2026-01-08T13:48:22Z</dcterms:created>
  <dcterms:modified xsi:type="dcterms:W3CDTF">2026-01-08T13:48:22Z</dcterms:modified>
</cp:coreProperties>
</file>